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Lato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43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9" Type="http://schemas.openxmlformats.org/officeDocument/2006/relationships/image" Target="../media/image42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44.png"/><Relationship Id="rId6" Type="http://schemas.openxmlformats.org/officeDocument/2006/relationships/image" Target="../media/image11.png"/><Relationship Id="rId7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1.png"/><Relationship Id="rId6" Type="http://schemas.openxmlformats.org/officeDocument/2006/relationships/image" Target="../media/image40.png"/><Relationship Id="rId7" Type="http://schemas.openxmlformats.org/officeDocument/2006/relationships/image" Target="../media/image11.png"/><Relationship Id="rId8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11.png"/><Relationship Id="rId8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image" Target="../media/image11.png"/><Relationship Id="rId7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52500" y="1814958"/>
            <a:ext cx="1080135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İNSAN AKTİVİTE TANIMA (HAR) ANALİZİ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952500" y="2694979"/>
            <a:ext cx="952500" cy="76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52500" y="3056929"/>
            <a:ext cx="10287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Makine Öğrenmesi ve Derin Öğrenme Yöntemlerinin Karşılaştırmalı Analizi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52500" y="3848651"/>
            <a:ext cx="10287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Gülsüm DURMAZ</a:t>
            </a:r>
            <a:endParaRPr sz="1575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Deniz ZAFER</a:t>
            </a:r>
            <a:endParaRPr sz="1575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266825"/>
            <a:ext cx="538162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Çalışma Özeti ve Kapsam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1428750"/>
            <a:ext cx="5381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Bu çalışma, </a:t>
            </a: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UCI Human Activity Recognition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veri seti üzerinde yedi farklı sınıflandırma modelinin performans analizini gerçekleştirmektedir.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34150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Vurgulanan Sonuçlar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6419850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419850" y="1885950"/>
            <a:ext cx="50196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Linear SVC: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%96.23 doğruluk oranı ile en yüksek performans.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419850" y="2290762"/>
            <a:ext cx="50196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Dinamik/Statik Ayrımı: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Üst model seviyesinde %100 doğruluk.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19850" y="2695575"/>
            <a:ext cx="50196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Gözlem: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Doğru öznitelik mühendisliği ile klasik modellerin derin öğrenme ile rekabet edebilirliği kanıtlanmıştır.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1990725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Lojistik Regresyon, Linear SVC, SVM (RBF), Karar Ağacı, Rastgele Orman ve KNN modellerinin değerlendirilmesi.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09625" y="2552700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Ham sensör verileriyle çalışan Hibrit CNN-LSTM derin öğrenme mimarisinin tasarımı.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09625" y="3114675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GridSearchCV tabanlı hiperparametre optimizasyonu ve Pipeline mimarisi.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09625" y="3676650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Model yorumlanabilirliğini artıran SHAP analizi ve modüler hiyerarşik sınıflandırma.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907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52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146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766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11049000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Giriş: HAR Probleminin Tanımı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1447800"/>
            <a:ext cx="111013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Disiplinler Arası Bir Alan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52475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52475" y="1885950"/>
            <a:ext cx="106870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İnsan Aktivite Tanıma (HAR), bireylerin fiziksel hareketlerini atalet algılayıcılar (ivmeölçer, jiroskop) aracılığıyla otomatik sınıflandırmayı hedefleyen kritik bir araştırma alanıdır.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2819400"/>
            <a:ext cx="56507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Neden Önemli?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238875" y="2819400"/>
            <a:ext cx="56507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Sensör Teknolojisi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238875" y="3219450"/>
            <a:ext cx="538162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Modern akıllı telefonların yüksek hassasiyetli atalet sensörleri ile donatılmış olması, araştırmaları laboratuvar ortamından gündelik yaşamın dinamik bağlamına taşımıştır.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09625" y="3057525"/>
            <a:ext cx="51435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Sağlık: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Yaşlı bireylerde düşme tespiti ve rehabilitasyon takibi.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09625" y="3376612"/>
            <a:ext cx="51435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Akıllı Ev: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Kullanıcı bağlamına göre enerji ve konfor yönetimi.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09625" y="3695700"/>
            <a:ext cx="51435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Spor: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Performans analizi ve yanlış hareket tespiti.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575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766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9570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5381625" cy="2890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266825"/>
            <a:ext cx="5381625" cy="289083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Giriş: Motivasyon ve Özgün Katkı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Temel Araştırma Sorusu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52475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52475" y="1885950"/>
            <a:ext cx="50196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Karmaşık derin öğrenme mimarileri her zaman gerekli midir? Yoksa iyi optimize edilmiş klasik modeller yeterli mi?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52475" y="2533650"/>
            <a:ext cx="50196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Literatürdeki en temel iki araştırma boşluğuna (Research Gap) odaklanılmıştır: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34150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Sunulan Özgün Çözümler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6419850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990600" y="3095625"/>
            <a:ext cx="47815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Model kararlarının öznitelik düzeyinde yorumlanamaması.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90600" y="3414712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Homojen sınıflandırıcıların heterojen aktivite gruplarında yaşadığı karışıklıklar.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57975" y="1819275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Açıklanabilirlik (XAI):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SHAP yöntemiyle kara kutu modellerin karar mekanizmasının analizi.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57975" y="2381250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Hiyerarşik Mimari: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Aktiviteleri önce Dinamik/Statik olarak ayıran, ardından uzman modellere yönlendiren aşamalı yapı.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30956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34147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18192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23812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266825"/>
            <a:ext cx="53816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Materyal ve Yöntem: Veri Seti (UCI HAR)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571500" y="1428750"/>
            <a:ext cx="53817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UCI Machine Learning Repository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üzerinden kamuya açık </a:t>
            </a:r>
            <a:endParaRPr b="0" i="0" sz="1275" u="none" cap="none" strike="noStrike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sunulan standart benchmark veri seti kullanılmıştır.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01087" y="20478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6448425" y="2647950"/>
            <a:ext cx="4962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Lato"/>
                <a:ea typeface="Lato"/>
                <a:cs typeface="Lato"/>
                <a:sym typeface="Lato"/>
              </a:rPr>
              <a:t>[GÖRSEL BURAYA GELECEK: Şekil 1 - Veri seti sınıf dağılımı (Eğitim/Test)]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762726" y="3200400"/>
            <a:ext cx="233377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Lütfen makaledeki Şekil 1'i buraya yerleştiriniz.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09625" y="1990725"/>
            <a:ext cx="51435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Denekler: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19-48 yaş arası 30 farklı gönüllü.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09625" y="2309812"/>
            <a:ext cx="5143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Aktiviteler: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6 Temel Sınıf (Walking, Upstairs, Downstairs,</a:t>
            </a:r>
            <a:endParaRPr b="0" i="0" sz="1275" u="none" cap="none" strike="noStrike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Sitting, Standing, Laying).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09625" y="2871787"/>
            <a:ext cx="5143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Sensör Kaydı: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50 Hz frekansında 3 eksenli ivmeölçer </a:t>
            </a:r>
            <a:endParaRPr b="0" i="0" sz="1275" u="none" cap="none" strike="noStrike">
              <a:solidFill>
                <a:srgbClr val="1E293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ve jiroskop verileri.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23900" y="3433750"/>
            <a:ext cx="5143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Segmentasyon: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2.56 saniyelik pencereler (%50 örtüşme).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907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098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717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556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77425" y="1152525"/>
            <a:ext cx="7195523" cy="33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5381625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63" y="1300600"/>
            <a:ext cx="5381625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Materyal ve Yöntem: Veri Ön İşleme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6562" y="21097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781050" y="2709862"/>
            <a:ext cx="4962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Lato"/>
                <a:ea typeface="Lato"/>
                <a:cs typeface="Lato"/>
                <a:sym typeface="Lato"/>
              </a:rPr>
              <a:t>[GÖRSEL BURAYA GELECEK: Şekil 2 - Kullanıcılardan gelen verinin dağılımı]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2066776" y="3262312"/>
            <a:ext cx="239092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Lütfen makaledeki Şekil 2'yi buraya yerleştiriniz.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534150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Veri Yapılandırma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6419850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657975" y="1819275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Klasik Modeller: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Zaman ve frekans domeni istatistiklerinden elde edilen 561 boyutlu özellik vektörü.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657975" y="2381250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Derin Öğrenme: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Inertial Signals klasöründen 9 kanallı (ivme/jiroskop) ham 3B sinyal tensörü (128 zaman adımı).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657975" y="2943225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StandardScaler: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Özniteliklerin aynı ölçeğe getirilmesi için eğitim setine fit edilmiş dönüşüm.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657975" y="3505200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Bölme: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Konu bağımsız (subject-independent) eğitim (%70) ve test (%30).</a:t>
            </a:r>
            <a:endParaRPr/>
          </a:p>
        </p:txBody>
      </p:sp>
      <p:pic>
        <p:nvPicPr>
          <p:cNvPr descr="image.png" id="194" name="Google Shape;19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9850" y="18192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9850" y="23812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9850" y="29432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9850" y="35052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1076325"/>
            <a:ext cx="6054599" cy="326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11049000" cy="84296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2.3. Literatür Taraması: Standartlar ve Gelişim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752475" y="1609725"/>
            <a:ext cx="106870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HAR alanındaki yöntemlerin evrimi, manuel öznitelik çıkarımından otomatik derin öğrenme mimarilerine doğru bir dönüşüm sergilemiştir.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809625" y="2252662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Anguita ve diğerleri [1]: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MC-SVM ile %96 doğruluğa ulaşarak veri setini referans nokta haline getirmişlerdir.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09625" y="2814637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Bülbül ve diğerleri [2]: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Karar Ağaçları ve k-NN karşılaştırmasında filtrelemenin (Butterworth) %99 başarıya katkısını kanıtlamışlardır.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09625" y="3376612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Ronao ve Cho [3]: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1B CNN kullanımı ile ham zaman serilerinden %94.79 elde ederek manuel öznitelik bağımlılığını kırmışlardır.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09625" y="3938587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Khalaf ve Riyadh [4]: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RNN'lerin zamansal, CNN'lerin uzamsal hiyerarşilerdeki üstünlüğünü sentezlemişlerdir.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477000" y="2252662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Ankita ve diğerleri [5]: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Hafif (Lightweight) CNN-LSTM mimarisinin %97.89 başarısını raporlamışlardır.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477000" y="2814637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Wan ve diğerleri [6]: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CNN'in yerel özellik çıkarımı ve ölçek değişmezliği yeteneklerini vurgulamışlardır.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477000" y="3376612"/>
            <a:ext cx="514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Nafea ve diğerleri [7]: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Laboratuvar vs. Gerçek dünya (Wild-SHARD) testlerinde modellerin performans kayıplarını analiz etmişlerdir.</a:t>
            </a:r>
            <a:endParaRPr/>
          </a:p>
        </p:txBody>
      </p:sp>
      <p:pic>
        <p:nvPicPr>
          <p:cNvPr descr="image.png" id="215" name="Google Shape;21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526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146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766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385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526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8146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3376612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11049000" cy="1804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57562"/>
            <a:ext cx="110490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2.3. Literatür Taraması: Modern Yaklaşımlar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752475" y="3700462"/>
            <a:ext cx="106870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Sentez: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Bu çalışma, literatürdeki yüksek doğruluk rakamlarını korurken, Ferrari ve diğerlerinin vurguladığı </a:t>
            </a: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"yorumlanabilirlik"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ve Ali ve diğerlerinin değindiği </a:t>
            </a: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"hiyerarşik gruplandırma"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boşluklarını doldurmayı hedeflemektedir.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990600" y="1447800"/>
            <a:ext cx="104489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Ali ve diğerleri [8]: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Sadece ivmeölçer verisi ve kaba gruplandırma ile minimal donanımlı sistemler önermişlerdir.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990600" y="1766887"/>
            <a:ext cx="104489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Elkhatib ve diğerleri [9]: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HARSense veri setinde Extra Trees Classifier (ETC) ile %97.12 başarısı sağlayarak topluluk öğrenmenin gücünü göstermişlerdir.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990600" y="2328862"/>
            <a:ext cx="104489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Ferrari ve diğerleri [10]: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HAR alanındaki en büyük boşluğun "popülasyon çeşitliliği" ve "cihaz heterojenliği" olduğunu belgeleyerek yorumlanabilirlik ihtiyacını vurgulamışlardır.</a:t>
            </a:r>
            <a:endParaRPr/>
          </a:p>
        </p:txBody>
      </p:sp>
      <p:pic>
        <p:nvPicPr>
          <p:cNvPr descr="image.png" id="235" name="Google Shape;23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14478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17668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2328862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62325"/>
            <a:ext cx="110490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66825"/>
            <a:ext cx="538162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266825"/>
            <a:ext cx="538162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2.2. Kullanılan Modeller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866775" y="3543300"/>
            <a:ext cx="111013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SVM (RBF Çekirdekli)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752475" y="35433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752475" y="3962400"/>
            <a:ext cx="106870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Doğrusal olmayan karar sınırlarını yüksek boyutlu uzaya yansıtarak (Kernel Trick) öğrenir. γ=0.0001 ve C=1000 parametrelerinde en yüksek stabiliteye ulaşılmıştır. 4 katlı çapraz doğrulama ile optimize edilmiştir.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866775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Lojistik Regresyon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752475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752475" y="1866900"/>
            <a:ext cx="50196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Pipeline mimarisi içinde L2 regülarizasyonu ve C=1 optimizasyonu ile uygulanmıştır. Doğrusal ayrıştırılabilir aktiviteler için güçlü bir temel referans oluşturmaktadır.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52475" y="2671762"/>
            <a:ext cx="50196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Optimizasyon: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3 katlı CV.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534150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Linear SVC</a:t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6419850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6419850" y="1866900"/>
            <a:ext cx="50196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Yüksek boyutlu öznitelik uzayında maksimum marjlı hiperdüzlem ile sınıfları ayırır. C=0.065 değeriyle hesaplama verimliliği ve başarı dengesi sağlanmıştır.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4150"/>
            <a:ext cx="11049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66825"/>
            <a:ext cx="538162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266825"/>
            <a:ext cx="5381625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2.2. Kullanılan Modeller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866775" y="2905125"/>
            <a:ext cx="111013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k-En Yakın Komşu (k-NN)</a:t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752475" y="2905125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752475" y="3324225"/>
            <a:ext cx="10687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Test örneğini en yakın komşularına göre sınıflandırır. UCI HAR gibi yüksek boyutlu uzaylarda "boyutluluk laneti" riskine karşı k=15 olarak belirlenmiş ve 5 katlı CV ile test edilmiştir.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66775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Karar Ağacı (Decision Tree)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752475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752475" y="1857375"/>
            <a:ext cx="50196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Özyinelemeli bölmeler ile sınıf tahmini üretir. Aşırı öğrenme (overfitting) riskini yönetmek için max_depth=13 olarak kısıtlanmıştır.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6534150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Rastgele Orman (Random Forest)</a:t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6419850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6419850" y="1857375"/>
            <a:ext cx="50196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Bootstrap örneklemesiyle eğitilen çok sayıda ağacın oylamasıdır. n_estimators=60 ve max_depth=7 parametrelerinde kararlı sonuçlar vermiştir.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11049000" cy="842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00287"/>
            <a:ext cx="538162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00287"/>
            <a:ext cx="538162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2.2. Hibrit CNN-LSTM Mimari Tasarımı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752475" y="1609725"/>
            <a:ext cx="106870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Ham sensör sinyalleri üzerinde manuel öznitelik çıkarımı olmaksızın çalışmak üzere tasarlanmış çok ölçekli bir modeldir.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752475" y="2481262"/>
            <a:ext cx="527065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Uzamsal ve Zamansal Katmanlar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6419850" y="2481262"/>
            <a:ext cx="527065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Eğitim Parametreleri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990600" y="2719387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Paralel CNN: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3, 5 ve 7 filtre boyutlu 64'er filtreli 1B CNN katmanları kısa/orta/uzun dönemli örüntüleri yakalar.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990600" y="3281362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LSTM: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128 birimlik katman, hareketteki zamansal bağımlılıkları modeller.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990600" y="3843337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Düzenlileştirme: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%40 Dropout, BatchNormalization ve EarlyStopping.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6657975" y="2719387"/>
            <a:ext cx="47815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Optimizer: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Adam (LR: 0.001).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6657975" y="3038475"/>
            <a:ext cx="47815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Loss: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Categorical Crossentropy.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657975" y="3357562"/>
            <a:ext cx="47815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Batch Size: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32.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657975" y="3676650"/>
            <a:ext cx="47815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Callbacks: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ReduceLROnPlateau (Faktör: 0.5).</a:t>
            </a:r>
            <a:endParaRPr/>
          </a:p>
        </p:txBody>
      </p:sp>
      <p:pic>
        <p:nvPicPr>
          <p:cNvPr descr="image.png" id="297" name="Google Shape;29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27193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32813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38433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27193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30384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33575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36766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1266825"/>
            <a:ext cx="110490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81525"/>
            <a:ext cx="1104900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Bulgular: Model Performans Sonuçları</a:t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3" name="Google Shape;31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400" y="22955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/>
        </p:nvSpPr>
        <p:spPr>
          <a:xfrm>
            <a:off x="3287017" y="2895600"/>
            <a:ext cx="56178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Lato"/>
                <a:ea typeface="Lato"/>
                <a:cs typeface="Lato"/>
                <a:sym typeface="Lato"/>
              </a:rPr>
              <a:t>[GÖRSEL BURAYA GELECEK: Tablo 1 - Tüm Modellerin Performans Karşılaştırması]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4914900" y="3219450"/>
            <a:ext cx="2362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Lütfen makaledeki Tablo 1'i buraya yerleştiriniz.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752475" y="4924425"/>
            <a:ext cx="106870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Özet Değerlendirme: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990600" y="5243512"/>
            <a:ext cx="104489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Linear SVC (%96.23) ve SVM-RBF (%96.13) liderdir.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990600" y="5562600"/>
            <a:ext cx="104489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Lojistik Regresyon %95.48 ile beklenmedik derecede yüksek bir temel performans sunmuştur.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990600" y="5881687"/>
            <a:ext cx="104489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Karar Ağacı %85.91 ile en düşük başarıyı göstermiştir.</a:t>
            </a:r>
            <a:endParaRPr/>
          </a:p>
        </p:txBody>
      </p:sp>
      <p:pic>
        <p:nvPicPr>
          <p:cNvPr descr="image.png" id="320" name="Google Shape;32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52435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55626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58816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1234225"/>
            <a:ext cx="11601451" cy="330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676900"/>
            <a:ext cx="11049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66825"/>
            <a:ext cx="5381625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266825"/>
            <a:ext cx="5381625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2495550"/>
            <a:ext cx="50196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3.3. Karmaşıklık Matrisi (Confusion Matrix) Analizi</a:t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752475" y="5857875"/>
            <a:ext cx="1122140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SVM (RBF)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752475" y="6229350"/>
            <a:ext cx="10687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Doğrusal olmayan mapping sayesinde LAYING aktivitesini %100 başarıyla izole eder. Ancak SITTING-STANDING ayrımında doğrusal olmayan sınırlar SVC'nin bir tık gerisinde kalmıştır.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752475" y="1447800"/>
            <a:ext cx="527065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Hibrit CNN-LSTM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752475" y="1819275"/>
            <a:ext cx="50196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Ham veriden öğrendiği için merdiven çıkma/inme gibi dinamik eylemlerde başarılıdır. Ancak temporal verideki ufak kaymalar %93 başarı bandında kalmasına neden olmuştur.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6419850" y="1447800"/>
            <a:ext cx="527065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Linear SVC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6419850" y="1819275"/>
            <a:ext cx="5019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Yüksek boyutlu uzayda doğrusal hiperdüzlem, SITTING-STANDING karışıklığını en iyi yöneten modeldir. Basit ve etkili karar sınırı %96 başarı getirmiştir.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2982813" y="3810000"/>
            <a:ext cx="5588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Lato"/>
                <a:ea typeface="Lato"/>
                <a:cs typeface="Lato"/>
                <a:sym typeface="Lato"/>
              </a:rPr>
              <a:t>[Şekil 3]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8650188" y="3609975"/>
            <a:ext cx="5588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Lato"/>
                <a:ea typeface="Lato"/>
                <a:cs typeface="Lato"/>
                <a:sym typeface="Lato"/>
              </a:rPr>
              <a:t>[Şekil 5]</a:t>
            </a:r>
            <a:endParaRPr/>
          </a:p>
        </p:txBody>
      </p:sp>
      <p:pic>
        <p:nvPicPr>
          <p:cNvPr id="343" name="Google Shape;34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6925" y="2495550"/>
            <a:ext cx="5270625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24600" y="2263413"/>
            <a:ext cx="4962525" cy="321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9" name="Google Shape;3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266825"/>
            <a:ext cx="5381625" cy="3290887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6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3.4. ROC Eğrisi Karşılaştırması</a:t>
            </a:r>
            <a:endParaRPr/>
          </a:p>
        </p:txBody>
      </p:sp>
      <p:sp>
        <p:nvSpPr>
          <p:cNvPr id="352" name="Google Shape;352;p26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3712" y="22645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6"/>
          <p:cNvSpPr txBox="1"/>
          <p:nvPr/>
        </p:nvSpPr>
        <p:spPr>
          <a:xfrm>
            <a:off x="781050" y="2864643"/>
            <a:ext cx="4962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Lato"/>
                <a:ea typeface="Lato"/>
                <a:cs typeface="Lato"/>
                <a:sym typeface="Lato"/>
              </a:rPr>
              <a:t>[GÖRSEL BURAYA GELECEK: Şekil 6 - Yedi modelin karşılaştırmalı ROC eğrisi]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2066776" y="3417093"/>
            <a:ext cx="239092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Lütfen makaledeki Şekil 6'yı buraya yerleştiriniz.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6534150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AUC (Area Under Curve) Analizi</a:t>
            </a:r>
            <a:endParaRPr/>
          </a:p>
        </p:txBody>
      </p:sp>
      <p:sp>
        <p:nvSpPr>
          <p:cNvPr id="357" name="Google Shape;357;p26"/>
          <p:cNvSpPr/>
          <p:nvPr/>
        </p:nvSpPr>
        <p:spPr>
          <a:xfrm>
            <a:off x="6419850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 txBox="1"/>
          <p:nvPr/>
        </p:nvSpPr>
        <p:spPr>
          <a:xfrm>
            <a:off x="6419850" y="1885950"/>
            <a:ext cx="50196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ROC eğrisi, modelin yanlış pozitif oranına karşı doğru pozitif oranını dengeler.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6657975" y="2447925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Zirve: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Linear SVC ve SVM, AUC değerleri 0.99'a yaklaşarak neredeyse kusursuz bir ayrıştırma kapasitesi göstermiştir.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6657975" y="3009900"/>
            <a:ext cx="47815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Kırılma: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Karar Ağacı, belirsiz sınır bölgelerinde (AUC: 0.912) diğer modellerin gerisinde kalarak ayrıştırma yeteneğinin düşük olduğunu kanıtlamıştır.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6657975" y="3814762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Direnç: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Hibrit model, ham veriye rağmen yüksek AUC (0.996) ile gürültüye dirençli olduğunu göstermiştir.</a:t>
            </a:r>
            <a:endParaRPr/>
          </a:p>
        </p:txBody>
      </p:sp>
      <p:pic>
        <p:nvPicPr>
          <p:cNvPr descr="image.png" id="362" name="Google Shape;36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24479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3009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38147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650" y="1266825"/>
            <a:ext cx="5114925" cy="394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0" name="Google Shape;3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266825"/>
            <a:ext cx="53816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66825"/>
            <a:ext cx="5381625" cy="282416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7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3.5. Öznitelik Önemi (Feature Importance)</a:t>
            </a:r>
            <a:endParaRPr/>
          </a:p>
        </p:txBody>
      </p:sp>
      <p:sp>
        <p:nvSpPr>
          <p:cNvPr id="374" name="Google Shape;374;p27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5" name="Google Shape;37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43937" y="20478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7"/>
          <p:cNvSpPr txBox="1"/>
          <p:nvPr/>
        </p:nvSpPr>
        <p:spPr>
          <a:xfrm>
            <a:off x="6448425" y="2647950"/>
            <a:ext cx="4962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Lato"/>
                <a:ea typeface="Lato"/>
                <a:cs typeface="Lato"/>
                <a:sym typeface="Lato"/>
              </a:rPr>
              <a:t>[GÖRSEL BURAYA GELECEK: Şekil 7 - Rastgele Orman en yüksek puanlı 10 öznitelik]</a:t>
            </a:r>
            <a:endParaRPr/>
          </a:p>
        </p:txBody>
      </p:sp>
      <p:sp>
        <p:nvSpPr>
          <p:cNvPr id="377" name="Google Shape;377;p27"/>
          <p:cNvSpPr txBox="1"/>
          <p:nvPr/>
        </p:nvSpPr>
        <p:spPr>
          <a:xfrm>
            <a:off x="7734151" y="3200400"/>
            <a:ext cx="239092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Lütfen makaledeki Şekil 7'yi buraya yerleştiriniz.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866775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Rastgele Orman Skorları</a:t>
            </a: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752475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7"/>
          <p:cNvSpPr txBox="1"/>
          <p:nvPr/>
        </p:nvSpPr>
        <p:spPr>
          <a:xfrm>
            <a:off x="752475" y="1885950"/>
            <a:ext cx="50196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Modelin hangi özniteliklere "güvendiğini" analiz eder.</a:t>
            </a:r>
            <a:endParaRPr/>
          </a:p>
        </p:txBody>
      </p:sp>
      <p:sp>
        <p:nvSpPr>
          <p:cNvPr id="381" name="Google Shape;381;p27"/>
          <p:cNvSpPr txBox="1"/>
          <p:nvPr/>
        </p:nvSpPr>
        <p:spPr>
          <a:xfrm>
            <a:off x="990600" y="2205037"/>
            <a:ext cx="4781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En Belirleyici: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angle(X,gravityMean) en kritik özelliktir. Yerçekimi açısı, yatma ve oturma ayrımında anahtardır.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990600" y="2776537"/>
            <a:ext cx="4781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Dinamik Gösterge: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tBodyAccJerkMag-entropy() ivme değişimindeki düzensizliği ölçerek yürüme eylemlerini izole eder.</a:t>
            </a:r>
            <a:endParaRPr/>
          </a:p>
        </p:txBody>
      </p:sp>
      <p:sp>
        <p:nvSpPr>
          <p:cNvPr id="383" name="Google Shape;383;p27"/>
          <p:cNvSpPr txBox="1"/>
          <p:nvPr/>
        </p:nvSpPr>
        <p:spPr>
          <a:xfrm>
            <a:off x="990600" y="3348037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Sonuç: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Öznitelik mühendisliğinin kalitesi doğrudan modelin "fiziksel" kararlar almasını sağlamaktadır.</a:t>
            </a:r>
            <a:endParaRPr/>
          </a:p>
        </p:txBody>
      </p:sp>
      <p:pic>
        <p:nvPicPr>
          <p:cNvPr descr="image.png" id="384" name="Google Shape;38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22050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27765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33480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43625" y="1266828"/>
            <a:ext cx="5560825" cy="31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53816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266825"/>
            <a:ext cx="53816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8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3.7. Özgün Değer: Hiyerarşik Sınıflandırma</a:t>
            </a:r>
            <a:endParaRPr/>
          </a:p>
        </p:txBody>
      </p:sp>
      <p:sp>
        <p:nvSpPr>
          <p:cNvPr id="396" name="Google Shape;396;p28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866775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Aşamalı Karar Mekanizması</a:t>
            </a:r>
            <a:endParaRPr/>
          </a:p>
        </p:txBody>
      </p:sp>
      <p:sp>
        <p:nvSpPr>
          <p:cNvPr id="398" name="Google Shape;398;p28"/>
          <p:cNvSpPr/>
          <p:nvPr/>
        </p:nvSpPr>
        <p:spPr>
          <a:xfrm>
            <a:off x="752475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8"/>
          <p:cNvSpPr txBox="1"/>
          <p:nvPr/>
        </p:nvSpPr>
        <p:spPr>
          <a:xfrm>
            <a:off x="752475" y="1885950"/>
            <a:ext cx="50196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Karmaşıklığı alt problemlere bölen ontolojik bir yaklaşım:</a:t>
            </a:r>
            <a:endParaRPr/>
          </a:p>
        </p:txBody>
      </p:sp>
      <p:pic>
        <p:nvPicPr>
          <p:cNvPr descr="image.png" id="400" name="Google Shape;40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72512" y="20478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8"/>
          <p:cNvSpPr txBox="1"/>
          <p:nvPr/>
        </p:nvSpPr>
        <p:spPr>
          <a:xfrm>
            <a:off x="6448425" y="2647950"/>
            <a:ext cx="4962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Lato"/>
                <a:ea typeface="Lato"/>
                <a:cs typeface="Lato"/>
                <a:sym typeface="Lato"/>
              </a:rPr>
              <a:t>[GÖRSEL BURAYA GELECEK: Şekil 9 - Hiyerarşik Sınıflandırma Mimarisi Tablosu]</a:t>
            </a:r>
            <a:endParaRPr/>
          </a:p>
        </p:txBody>
      </p:sp>
      <p:sp>
        <p:nvSpPr>
          <p:cNvPr id="402" name="Google Shape;402;p28"/>
          <p:cNvSpPr txBox="1"/>
          <p:nvPr/>
        </p:nvSpPr>
        <p:spPr>
          <a:xfrm>
            <a:off x="7743676" y="3200400"/>
            <a:ext cx="237187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Lütfen makaledeki Şekil 9'u buraya yerleştiriniz.</a:t>
            </a:r>
            <a:endParaRPr/>
          </a:p>
        </p:txBody>
      </p:sp>
      <p:sp>
        <p:nvSpPr>
          <p:cNvPr id="403" name="Google Shape;403;p28"/>
          <p:cNvSpPr txBox="1"/>
          <p:nvPr/>
        </p:nvSpPr>
        <p:spPr>
          <a:xfrm>
            <a:off x="990600" y="2205037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Aşama 1 (Üst Model):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Aktiviteleri Dinamik ve Statik olarak ayırır. </a:t>
            </a: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Başarı: %100.</a:t>
            </a:r>
            <a:endParaRPr/>
          </a:p>
        </p:txBody>
      </p:sp>
      <p:sp>
        <p:nvSpPr>
          <p:cNvPr id="404" name="Google Shape;404;p28"/>
          <p:cNvSpPr txBox="1"/>
          <p:nvPr/>
        </p:nvSpPr>
        <p:spPr>
          <a:xfrm>
            <a:off x="990600" y="2767012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Aşama 2 (Uzman Modeller):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Statik için ayrı, Dinamik için ayrı bir Rastgele Orman modeli devreye girer.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990600" y="3328987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Mantık: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Bir kişinin hareket edip etmediği, hangi hareketi yaptığından ayrı bir sinyal işlemedir.</a:t>
            </a:r>
            <a:endParaRPr/>
          </a:p>
        </p:txBody>
      </p:sp>
      <p:pic>
        <p:nvPicPr>
          <p:cNvPr descr="image.png" id="406" name="Google Shape;40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22050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27670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33289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40500" y="1067975"/>
            <a:ext cx="6532450" cy="30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4" name="Google Shape;41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266825"/>
            <a:ext cx="5381625" cy="2805112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9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3.8. Özgün Değer: SHAP ile Açıklanabilirlik (XAI)</a:t>
            </a:r>
            <a:endParaRPr/>
          </a:p>
        </p:txBody>
      </p:sp>
      <p:sp>
        <p:nvSpPr>
          <p:cNvPr id="417" name="Google Shape;417;p29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8" name="Google Shape;41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5137" y="21621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9"/>
          <p:cNvSpPr txBox="1"/>
          <p:nvPr/>
        </p:nvSpPr>
        <p:spPr>
          <a:xfrm>
            <a:off x="1026467" y="2762250"/>
            <a:ext cx="44715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1A3D"/>
                </a:solidFill>
                <a:latin typeface="Lato"/>
                <a:ea typeface="Lato"/>
                <a:cs typeface="Lato"/>
                <a:sym typeface="Lato"/>
              </a:rPr>
              <a:t>[GÖRSEL BURAYA GELECEK: Şekil 10 - SHAP bar plot özet grafiği]</a:t>
            </a:r>
            <a:endParaRPr/>
          </a:p>
        </p:txBody>
      </p:sp>
      <p:sp>
        <p:nvSpPr>
          <p:cNvPr id="420" name="Google Shape;420;p29"/>
          <p:cNvSpPr txBox="1"/>
          <p:nvPr/>
        </p:nvSpPr>
        <p:spPr>
          <a:xfrm>
            <a:off x="2042963" y="3086100"/>
            <a:ext cx="243854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Lütfen makaledeki Şekil 10'u buraya yerleştiriniz.</a:t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6534150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Kara Kutu Modelin Şeffaflaştırılması</a:t>
            </a:r>
            <a:endParaRPr/>
          </a:p>
        </p:txBody>
      </p:sp>
      <p:sp>
        <p:nvSpPr>
          <p:cNvPr id="422" name="Google Shape;422;p29"/>
          <p:cNvSpPr/>
          <p:nvPr/>
        </p:nvSpPr>
        <p:spPr>
          <a:xfrm>
            <a:off x="6419850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9"/>
          <p:cNvSpPr txBox="1"/>
          <p:nvPr/>
        </p:nvSpPr>
        <p:spPr>
          <a:xfrm>
            <a:off x="6419850" y="1885950"/>
            <a:ext cx="50196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SHAP (Shapley Additive Explanations) ile öznitelik düzeyinde içgörü:</a:t>
            </a:r>
            <a:endParaRPr/>
          </a:p>
        </p:txBody>
      </p:sp>
      <p:sp>
        <p:nvSpPr>
          <p:cNvPr id="424" name="Google Shape;424;p29"/>
          <p:cNvSpPr txBox="1"/>
          <p:nvPr/>
        </p:nvSpPr>
        <p:spPr>
          <a:xfrm>
            <a:off x="6657975" y="2205037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LAYING Analizi: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Yerçekimi açısı (sarı renkli bar) bu aktivitede tek başına en büyük etkendir.</a:t>
            </a:r>
            <a:endParaRPr/>
          </a:p>
        </p:txBody>
      </p:sp>
      <p:sp>
        <p:nvSpPr>
          <p:cNvPr id="425" name="Google Shape;425;p29"/>
          <p:cNvSpPr txBox="1"/>
          <p:nvPr/>
        </p:nvSpPr>
        <p:spPr>
          <a:xfrm>
            <a:off x="6657975" y="2767012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Dinamik Ayrım: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Jitter (sarsıntı) ve entropi değerleri yürüme eylemlerindeki kararı domine eder.</a:t>
            </a:r>
            <a:endParaRPr/>
          </a:p>
        </p:txBody>
      </p:sp>
      <p:sp>
        <p:nvSpPr>
          <p:cNvPr id="426" name="Google Shape;426;p29"/>
          <p:cNvSpPr txBox="1"/>
          <p:nvPr/>
        </p:nvSpPr>
        <p:spPr>
          <a:xfrm>
            <a:off x="6657975" y="3328987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Klinik Güven: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Hangi sensör kanalının kararı yönlendirdiğini bilmek, HAR sistemlerini "güvenilir" kılar.</a:t>
            </a:r>
            <a:endParaRPr/>
          </a:p>
        </p:txBody>
      </p:sp>
      <p:pic>
        <p:nvPicPr>
          <p:cNvPr descr="image.png" id="427" name="Google Shape;42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22050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27670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33289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225" y="1266825"/>
            <a:ext cx="5057775" cy="5133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5" name="Google Shape;43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538162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266825"/>
            <a:ext cx="5381625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0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01A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Sonuç ve Gelecek Çalışmalar</a:t>
            </a:r>
            <a:endParaRPr/>
          </a:p>
        </p:txBody>
      </p:sp>
      <p:sp>
        <p:nvSpPr>
          <p:cNvPr id="439" name="Google Shape;439;p30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0"/>
          <p:cNvSpPr txBox="1"/>
          <p:nvPr/>
        </p:nvSpPr>
        <p:spPr>
          <a:xfrm>
            <a:off x="866775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Genel Çıkarım</a:t>
            </a:r>
            <a:endParaRPr/>
          </a:p>
        </p:txBody>
      </p:sp>
      <p:sp>
        <p:nvSpPr>
          <p:cNvPr id="441" name="Google Shape;441;p30"/>
          <p:cNvSpPr/>
          <p:nvPr/>
        </p:nvSpPr>
        <p:spPr>
          <a:xfrm>
            <a:off x="752475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0"/>
          <p:cNvSpPr txBox="1"/>
          <p:nvPr/>
        </p:nvSpPr>
        <p:spPr>
          <a:xfrm>
            <a:off x="6534150" y="1447800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1A3D"/>
                </a:solidFill>
                <a:latin typeface="Poppins"/>
                <a:ea typeface="Poppins"/>
                <a:cs typeface="Poppins"/>
                <a:sym typeface="Poppins"/>
              </a:rPr>
              <a:t>Öneriler</a:t>
            </a:r>
            <a:endParaRPr/>
          </a:p>
        </p:txBody>
      </p:sp>
      <p:sp>
        <p:nvSpPr>
          <p:cNvPr id="443" name="Google Shape;443;p30"/>
          <p:cNvSpPr/>
          <p:nvPr/>
        </p:nvSpPr>
        <p:spPr>
          <a:xfrm>
            <a:off x="6419850" y="1447800"/>
            <a:ext cx="38100" cy="27622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0"/>
          <p:cNvSpPr txBox="1"/>
          <p:nvPr/>
        </p:nvSpPr>
        <p:spPr>
          <a:xfrm>
            <a:off x="990600" y="1819275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En İyi Seçenek: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Linear SVC (%96.23) doğruluk ve düşük hesaplama yükü ile en verimli modeldir.</a:t>
            </a:r>
            <a:endParaRPr/>
          </a:p>
        </p:txBody>
      </p:sp>
      <p:sp>
        <p:nvSpPr>
          <p:cNvPr id="445" name="Google Shape;445;p30"/>
          <p:cNvSpPr txBox="1"/>
          <p:nvPr/>
        </p:nvSpPr>
        <p:spPr>
          <a:xfrm>
            <a:off x="990600" y="2381250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Derin Öğrenme: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Manuel öznitelik çıkarımı yapılamayan senaryolarda Hibrit CNN-LSTM güçlü bir alternatiftir.</a:t>
            </a:r>
            <a:endParaRPr/>
          </a:p>
        </p:txBody>
      </p:sp>
      <p:sp>
        <p:nvSpPr>
          <p:cNvPr id="446" name="Google Shape;446;p30"/>
          <p:cNvSpPr txBox="1"/>
          <p:nvPr/>
        </p:nvSpPr>
        <p:spPr>
          <a:xfrm>
            <a:off x="990600" y="2943225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XAI: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SHAP analizi, HAR sistemlerinde doğruluğun ötesinde şeffaflık ihtiyacını karşılamıştır.</a:t>
            </a:r>
            <a:endParaRPr/>
          </a:p>
        </p:txBody>
      </p:sp>
      <p:sp>
        <p:nvSpPr>
          <p:cNvPr id="447" name="Google Shape;447;p30"/>
          <p:cNvSpPr txBox="1"/>
          <p:nvPr/>
        </p:nvSpPr>
        <p:spPr>
          <a:xfrm>
            <a:off x="6657975" y="1819275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Gerçek Dünya: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Modeller Wild-SHARD veya PAMAP2 gibi gürültülü veri setlerinde test edilmelidir.</a:t>
            </a:r>
            <a:endParaRPr/>
          </a:p>
        </p:txBody>
      </p:sp>
      <p:sp>
        <p:nvSpPr>
          <p:cNvPr id="448" name="Google Shape;448;p30"/>
          <p:cNvSpPr txBox="1"/>
          <p:nvPr/>
        </p:nvSpPr>
        <p:spPr>
          <a:xfrm>
            <a:off x="6657975" y="2381250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Transfer Learning: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Yaşlılar ve çocuklar gibi farklı popülasyonlara transfer öğrenme ile uyum sağlanmalıdır.</a:t>
            </a:r>
            <a:endParaRPr/>
          </a:p>
        </p:txBody>
      </p:sp>
      <p:sp>
        <p:nvSpPr>
          <p:cNvPr id="449" name="Google Shape;449;p30"/>
          <p:cNvSpPr txBox="1"/>
          <p:nvPr/>
        </p:nvSpPr>
        <p:spPr>
          <a:xfrm>
            <a:off x="6657975" y="2943225"/>
            <a:ext cx="47815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Uç Cihazlar: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Raspberry Pi gibi donanımlarda "Model Sıkıştırma" ve "Bilgi Damıtma" yöntemleri denenmelidir.</a:t>
            </a:r>
            <a:endParaRPr/>
          </a:p>
        </p:txBody>
      </p:sp>
      <p:pic>
        <p:nvPicPr>
          <p:cNvPr descr="image.png" id="450" name="Google Shape;45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18192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23812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29432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18192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23812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294322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